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Roboto" charset="1" panose="02000000000000000000"/>
      <p:regular r:id="rId10"/>
    </p:embeddedFont>
    <p:embeddedFont>
      <p:font typeface="Roboto Bold" charset="1" panose="02000000000000000000"/>
      <p:regular r:id="rId11"/>
    </p:embeddedFont>
    <p:embeddedFont>
      <p:font typeface="Roboto Italics" charset="1" panose="02000000000000000000"/>
      <p:regular r:id="rId12"/>
    </p:embeddedFont>
    <p:embeddedFont>
      <p:font typeface="Roboto Bold Italics" charset="1" panose="02000000000000000000"/>
      <p:regular r:id="rId13"/>
    </p:embeddedFont>
    <p:embeddedFont>
      <p:font typeface="Open Sans" charset="1" panose="020B0606030504020204"/>
      <p:regular r:id="rId14"/>
    </p:embeddedFont>
    <p:embeddedFont>
      <p:font typeface="Open Sans Bold" charset="1" panose="020B0806030504020204"/>
      <p:regular r:id="rId15"/>
    </p:embeddedFont>
    <p:embeddedFont>
      <p:font typeface="Open Sans Italics" charset="1" panose="020B0606030504020204"/>
      <p:regular r:id="rId16"/>
    </p:embeddedFont>
    <p:embeddedFont>
      <p:font typeface="Open Sans Bold Italics" charset="1" panose="020B0806030504020204"/>
      <p:regular r:id="rId17"/>
    </p:embeddedFont>
    <p:embeddedFont>
      <p:font typeface="Open Sans Extra Bold" charset="1" panose="020B0906030804020204"/>
      <p:regular r:id="rId18"/>
    </p:embeddedFont>
    <p:embeddedFont>
      <p:font typeface="Open Sans Extra Bold Italics" charset="1" panose="020B09060308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slides/slide1.xml" Type="http://schemas.openxmlformats.org/officeDocument/2006/relationships/slide"/><Relationship Id="rId21" Target="slides/slide2.xml" Type="http://schemas.openxmlformats.org/officeDocument/2006/relationships/slide"/><Relationship Id="rId22" Target="slides/slide3.xml" Type="http://schemas.openxmlformats.org/officeDocument/2006/relationships/slide"/><Relationship Id="rId23" Target="slides/slide4.xml" Type="http://schemas.openxmlformats.org/officeDocument/2006/relationships/slide"/><Relationship Id="rId24" Target="slides/slide5.xml" Type="http://schemas.openxmlformats.org/officeDocument/2006/relationships/slide"/><Relationship Id="rId25" Target="slides/slide6.xml" Type="http://schemas.openxmlformats.org/officeDocument/2006/relationships/slide"/><Relationship Id="rId26" Target="slides/slide7.xml" Type="http://schemas.openxmlformats.org/officeDocument/2006/relationships/slide"/><Relationship Id="rId27" Target="slides/slide8.xml" Type="http://schemas.openxmlformats.org/officeDocument/2006/relationships/slide"/><Relationship Id="rId28" Target="slides/slide9.xml" Type="http://schemas.openxmlformats.org/officeDocument/2006/relationships/slide"/><Relationship Id="rId29" Target="slides/slide10.xml" Type="http://schemas.openxmlformats.org/officeDocument/2006/relationships/slide"/><Relationship Id="rId3" Target="viewProps.xml" Type="http://schemas.openxmlformats.org/officeDocument/2006/relationships/viewProps"/><Relationship Id="rId30" Target="slides/slide11.xml" Type="http://schemas.openxmlformats.org/officeDocument/2006/relationships/slide"/><Relationship Id="rId31" Target="slides/slide12.xml" Type="http://schemas.openxmlformats.org/officeDocument/2006/relationships/slide"/><Relationship Id="rId32" Target="slides/slide13.xml" Type="http://schemas.openxmlformats.org/officeDocument/2006/relationships/slide"/><Relationship Id="rId33" Target="slides/slide14.xml" Type="http://schemas.openxmlformats.org/officeDocument/2006/relationships/slide"/><Relationship Id="rId34" Target="slides/slide15.xml" Type="http://schemas.openxmlformats.org/officeDocument/2006/relationships/slide"/><Relationship Id="rId35" Target="slides/slide16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4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2411" t="0" r="12411" b="0"/>
          <a:stretch>
            <a:fillRect/>
          </a:stretch>
        </p:blipFill>
        <p:spPr>
          <a:xfrm flipH="false" flipV="false" rot="0">
            <a:off x="0" y="1637347"/>
            <a:ext cx="18288000" cy="7298055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0" y="2981631"/>
            <a:ext cx="18288000" cy="4333569"/>
            <a:chOff x="0" y="0"/>
            <a:chExt cx="6186311" cy="1465923"/>
          </a:xfrm>
        </p:grpSpPr>
        <p:sp>
          <p:nvSpPr>
            <p:cNvPr name="Freeform 4" id="4"/>
            <p:cNvSpPr/>
            <p:nvPr/>
          </p:nvSpPr>
          <p:spPr>
            <a:xfrm>
              <a:off x="0" y="0"/>
              <a:ext cx="6186311" cy="1465923"/>
            </a:xfrm>
            <a:custGeom>
              <a:avLst/>
              <a:gdLst/>
              <a:ahLst/>
              <a:cxnLst/>
              <a:rect r="r" b="b" t="t" l="l"/>
              <a:pathLst>
                <a:path h="1465923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1465923"/>
                  </a:lnTo>
                  <a:lnTo>
                    <a:pt x="0" y="1465923"/>
                  </a:lnTo>
                  <a:close/>
                </a:path>
              </a:pathLst>
            </a:custGeom>
            <a:solidFill>
              <a:srgbClr val="D1660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376062" y="3181656"/>
            <a:ext cx="13535877" cy="3923688"/>
            <a:chOff x="0" y="0"/>
            <a:chExt cx="18047836" cy="523158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6675"/>
              <a:ext cx="18047836" cy="3304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39"/>
                </a:lnSpc>
              </a:pPr>
              <a:r>
                <a:rPr lang="en-US" sz="8400" spc="-84">
                  <a:solidFill>
                    <a:srgbClr val="FFFFFF"/>
                  </a:solidFill>
                  <a:latin typeface="Roboto Bold"/>
                </a:rPr>
                <a:t>Text Generation Machine Learning Project (GAN-Dalf)</a:t>
              </a:r>
            </a:p>
            <a:p>
              <a:pPr algn="ctr">
                <a:lnSpc>
                  <a:spcPts val="110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618472"/>
              <a:ext cx="18047836" cy="16131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FFFFFF"/>
                  </a:solidFill>
                  <a:latin typeface="Roboto"/>
                </a:rPr>
                <a:t>Designing Deep Learning models for memorable quote generation using Natural Language Processing, LSTM and GANs.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912570" cy="10287000"/>
          </a:xfrm>
          <a:prstGeom prst="rect">
            <a:avLst/>
          </a:prstGeom>
          <a:solidFill>
            <a:srgbClr val="D16603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028700" y="1436467"/>
            <a:ext cx="5710567" cy="3815012"/>
            <a:chOff x="0" y="0"/>
            <a:chExt cx="7614089" cy="508668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76200"/>
              <a:ext cx="7614089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9899"/>
                </a:lnSpc>
              </a:pPr>
              <a:r>
                <a:rPr lang="en-US" sz="8999" spc="-89">
                  <a:solidFill>
                    <a:srgbClr val="FFFFFF"/>
                  </a:solidFill>
                  <a:latin typeface="Roboto Bold"/>
                </a:rPr>
                <a:t>Index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92260"/>
              <a:ext cx="7614089" cy="27944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  <a:spcBef>
                  <a:spcPct val="0"/>
                </a:spcBef>
              </a:pPr>
              <a:r>
                <a:rPr lang="en-US" sz="4000">
                  <a:solidFill>
                    <a:srgbClr val="FFFFFF"/>
                  </a:solidFill>
                  <a:latin typeface="Arimo Italics"/>
                </a:rPr>
                <a:t>"I Think This Is The Beginning Of A Beautiful Friendship."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0" y="2126199"/>
            <a:ext cx="6782478" cy="602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319"/>
              </a:lnSpc>
            </a:pPr>
            <a:r>
              <a:rPr lang="en-US" sz="3600">
                <a:solidFill>
                  <a:srgbClr val="044557"/>
                </a:solidFill>
                <a:latin typeface="Roboto Bold"/>
              </a:rPr>
              <a:t>1 - Introduction</a:t>
            </a:r>
          </a:p>
          <a:p>
            <a:pPr>
              <a:lnSpc>
                <a:spcPts val="4319"/>
              </a:lnSpc>
            </a:pPr>
          </a:p>
          <a:p>
            <a:pPr>
              <a:lnSpc>
                <a:spcPts val="4319"/>
              </a:lnSpc>
            </a:pPr>
            <a:r>
              <a:rPr lang="en-US" sz="3599">
                <a:solidFill>
                  <a:srgbClr val="044557"/>
                </a:solidFill>
                <a:latin typeface="Roboto Bold"/>
              </a:rPr>
              <a:t>2 - Natural Language Processing</a:t>
            </a:r>
          </a:p>
          <a:p>
            <a:pPr>
              <a:lnSpc>
                <a:spcPts val="4319"/>
              </a:lnSpc>
            </a:pPr>
          </a:p>
          <a:p>
            <a:pPr>
              <a:lnSpc>
                <a:spcPts val="4319"/>
              </a:lnSpc>
            </a:pPr>
            <a:r>
              <a:rPr lang="en-US" sz="3599">
                <a:solidFill>
                  <a:srgbClr val="044557"/>
                </a:solidFill>
                <a:latin typeface="Roboto Bold"/>
              </a:rPr>
              <a:t>3 - LSTM Modeling</a:t>
            </a:r>
          </a:p>
          <a:p>
            <a:pPr>
              <a:lnSpc>
                <a:spcPts val="4319"/>
              </a:lnSpc>
            </a:pPr>
          </a:p>
          <a:p>
            <a:pPr>
              <a:lnSpc>
                <a:spcPts val="4319"/>
              </a:lnSpc>
            </a:pPr>
            <a:r>
              <a:rPr lang="en-US" sz="3599">
                <a:solidFill>
                  <a:srgbClr val="044557"/>
                </a:solidFill>
                <a:latin typeface="Roboto Bold"/>
              </a:rPr>
              <a:t>4 - GAN Modeling</a:t>
            </a:r>
          </a:p>
          <a:p>
            <a:pPr>
              <a:lnSpc>
                <a:spcPts val="4319"/>
              </a:lnSpc>
            </a:pPr>
          </a:p>
          <a:p>
            <a:pPr>
              <a:lnSpc>
                <a:spcPts val="4319"/>
              </a:lnSpc>
            </a:pPr>
            <a:r>
              <a:rPr lang="en-US" sz="3599">
                <a:solidFill>
                  <a:srgbClr val="044557"/>
                </a:solidFill>
                <a:latin typeface="Roboto Bold"/>
              </a:rPr>
              <a:t>5 - Predictions</a:t>
            </a:r>
          </a:p>
          <a:p>
            <a:pPr>
              <a:lnSpc>
                <a:spcPts val="4319"/>
              </a:lnSpc>
            </a:pPr>
          </a:p>
          <a:p>
            <a:pPr>
              <a:lnSpc>
                <a:spcPts val="4320"/>
              </a:lnSpc>
            </a:pPr>
            <a:r>
              <a:rPr lang="en-US" sz="3599">
                <a:solidFill>
                  <a:srgbClr val="044557"/>
                </a:solidFill>
                <a:latin typeface="Roboto Bold"/>
              </a:rPr>
              <a:t>6 - Conclusions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8065" y="1465187"/>
            <a:ext cx="12806692" cy="2152583"/>
            <a:chOff x="0" y="0"/>
            <a:chExt cx="17075589" cy="287011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7075589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9899"/>
                </a:lnSpc>
              </a:pPr>
              <a:r>
                <a:rPr lang="en-US" sz="8999" spc="-89">
                  <a:solidFill>
                    <a:srgbClr val="044557"/>
                  </a:solidFill>
                  <a:latin typeface="Roboto Bold"/>
                </a:rPr>
                <a:t>1 - Introduction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84310"/>
              <a:ext cx="17075589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44557"/>
                  </a:solidFill>
                  <a:latin typeface="Roboto"/>
                </a:rPr>
                <a:t>Defining the project steps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8065" y="4435026"/>
            <a:ext cx="4047442" cy="4193542"/>
            <a:chOff x="0" y="0"/>
            <a:chExt cx="5396590" cy="5591389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0" y="0"/>
              <a:ext cx="810455" cy="648364"/>
            </a:xfrm>
            <a:prstGeom prst="rect">
              <a:avLst/>
            </a:prstGeom>
          </p:spPr>
        </p:pic>
        <p:sp>
          <p:nvSpPr>
            <p:cNvPr name="TextBox 7" id="7"/>
            <p:cNvSpPr txBox="true"/>
            <p:nvPr/>
          </p:nvSpPr>
          <p:spPr>
            <a:xfrm rot="0">
              <a:off x="0" y="3261786"/>
              <a:ext cx="5396590" cy="2329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044557"/>
                  </a:solidFill>
                  <a:latin typeface="Roboto"/>
                </a:rPr>
                <a:t>Explaining the preprocessing tecniques involved around text generation models.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371967"/>
              <a:ext cx="5396590" cy="1467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20"/>
                </a:lnSpc>
              </a:pPr>
              <a:r>
                <a:rPr lang="en-US" sz="3600">
                  <a:solidFill>
                    <a:srgbClr val="044557"/>
                  </a:solidFill>
                  <a:latin typeface="Roboto Bold"/>
                </a:rPr>
                <a:t>Natural Language Processing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20279" y="4435026"/>
            <a:ext cx="4047442" cy="4193542"/>
            <a:chOff x="0" y="0"/>
            <a:chExt cx="5396590" cy="5591389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0" y="0"/>
              <a:ext cx="810455" cy="648364"/>
            </a:xfrm>
            <a:prstGeom prst="rect">
              <a:avLst/>
            </a:prstGeom>
          </p:spPr>
        </p:pic>
        <p:sp>
          <p:nvSpPr>
            <p:cNvPr name="TextBox 11" id="11"/>
            <p:cNvSpPr txBox="true"/>
            <p:nvPr/>
          </p:nvSpPr>
          <p:spPr>
            <a:xfrm rot="0">
              <a:off x="0" y="3261786"/>
              <a:ext cx="5396590" cy="2329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044557"/>
                  </a:solidFill>
                  <a:latin typeface="Roboto"/>
                </a:rPr>
                <a:t>Using Long-Short-Term Memory NNs for predicting the next character/word in a sequence.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371967"/>
              <a:ext cx="5396590" cy="1467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20"/>
                </a:lnSpc>
              </a:pPr>
              <a:r>
                <a:rPr lang="en-US" sz="3600">
                  <a:solidFill>
                    <a:srgbClr val="044557"/>
                  </a:solidFill>
                  <a:latin typeface="Roboto Bold"/>
                </a:rPr>
                <a:t>LSTM Neural Networks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26853" y="4435026"/>
            <a:ext cx="3933115" cy="4606509"/>
            <a:chOff x="0" y="0"/>
            <a:chExt cx="5244153" cy="6142012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0" t="0" r="0" b="0"/>
            <a:stretch>
              <a:fillRect/>
            </a:stretch>
          </p:blipFill>
          <p:spPr>
            <a:xfrm flipH="false" flipV="false" rot="0">
              <a:off x="0" y="0"/>
              <a:ext cx="787562" cy="630050"/>
            </a:xfrm>
            <a:prstGeom prst="rect">
              <a:avLst/>
            </a:prstGeom>
          </p:spPr>
        </p:pic>
        <p:sp>
          <p:nvSpPr>
            <p:cNvPr name="TextBox 15" id="15"/>
            <p:cNvSpPr txBox="true"/>
            <p:nvPr/>
          </p:nvSpPr>
          <p:spPr>
            <a:xfrm rot="0">
              <a:off x="0" y="3867073"/>
              <a:ext cx="5244153" cy="2274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401"/>
                </a:lnSpc>
                <a:spcBef>
                  <a:spcPct val="0"/>
                </a:spcBef>
              </a:pPr>
              <a:r>
                <a:rPr lang="en-US" sz="2429">
                  <a:solidFill>
                    <a:srgbClr val="044557"/>
                  </a:solidFill>
                  <a:latin typeface="Roboto"/>
                </a:rPr>
                <a:t>Training a generator and a discriminator in order to obtain plausible text outputs.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342469"/>
              <a:ext cx="5244153" cy="2125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197"/>
                </a:lnSpc>
              </a:pPr>
              <a:r>
                <a:rPr lang="en-US" sz="3498">
                  <a:solidFill>
                    <a:srgbClr val="044557"/>
                  </a:solidFill>
                  <a:latin typeface="Roboto Bold"/>
                </a:rPr>
                <a:t>Generative Adversarial Networks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912570" cy="10287000"/>
          </a:xfrm>
          <a:prstGeom prst="rect">
            <a:avLst/>
          </a:prstGeom>
          <a:solidFill>
            <a:srgbClr val="D16603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912570" y="0"/>
            <a:ext cx="10375430" cy="13750295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178379" y="1436467"/>
            <a:ext cx="5712169" cy="5549833"/>
            <a:chOff x="0" y="0"/>
            <a:chExt cx="7616226" cy="739977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7616226" cy="510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9899"/>
                </a:lnSpc>
              </a:pPr>
              <a:r>
                <a:rPr lang="en-US" sz="8999" spc="-89">
                  <a:solidFill>
                    <a:srgbClr val="FFFFFF"/>
                  </a:solidFill>
                  <a:latin typeface="Roboto Bold"/>
                </a:rPr>
                <a:t>2 - Natural Language Processing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664110"/>
              <a:ext cx="7616226" cy="1735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320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FFFFFF"/>
                  </a:solidFill>
                  <a:latin typeface="Arimo Italics"/>
                </a:rPr>
                <a:t>"I was a book, I was the world."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5711" y="1041542"/>
            <a:ext cx="8468289" cy="3561302"/>
            <a:chOff x="0" y="0"/>
            <a:chExt cx="11291052" cy="474840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47625"/>
              <a:ext cx="11291052" cy="2671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700"/>
                </a:lnSpc>
              </a:pPr>
              <a:r>
                <a:rPr lang="en-US" sz="7000" spc="-70">
                  <a:solidFill>
                    <a:srgbClr val="044557"/>
                  </a:solidFill>
                  <a:latin typeface="Roboto Bold"/>
                </a:rPr>
                <a:t>2 - Natural Language Processing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51402"/>
              <a:ext cx="11291052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44557"/>
                  </a:solidFill>
                  <a:latin typeface="Roboto"/>
                </a:rPr>
                <a:t>Tecnique consisting in tokenizing sequences and encoding them into One-Hot Arrays.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57994" y="1343309"/>
            <a:ext cx="682685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>
                <a:solidFill>
                  <a:srgbClr val="044557"/>
                </a:solidFill>
                <a:latin typeface="Roboto Bold"/>
              </a:rPr>
              <a:t>CHARACTER INPUT STATS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57994" y="2293708"/>
            <a:ext cx="6826856" cy="1064260"/>
            <a:chOff x="0" y="0"/>
            <a:chExt cx="9102475" cy="141901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47625"/>
              <a:ext cx="2927773" cy="1371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700"/>
                </a:lnSpc>
              </a:pPr>
              <a:r>
                <a:rPr lang="en-US" sz="7000" spc="-70">
                  <a:solidFill>
                    <a:srgbClr val="F47805"/>
                  </a:solidFill>
                  <a:latin typeface="Roboto Bold"/>
                </a:rPr>
                <a:t>52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812460" y="383117"/>
              <a:ext cx="5290015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3000">
                  <a:solidFill>
                    <a:srgbClr val="044557"/>
                  </a:solidFill>
                  <a:latin typeface="Roboto Bold"/>
                </a:rPr>
                <a:t>UNIQUE CHARACTERS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57994" y="3908425"/>
            <a:ext cx="6826856" cy="1064260"/>
            <a:chOff x="0" y="0"/>
            <a:chExt cx="9102475" cy="141901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47625"/>
              <a:ext cx="2927773" cy="1371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700"/>
                </a:lnSpc>
              </a:pPr>
              <a:r>
                <a:rPr lang="en-US" sz="7000" spc="-70">
                  <a:solidFill>
                    <a:srgbClr val="F47805"/>
                  </a:solidFill>
                  <a:latin typeface="Roboto Bold"/>
                </a:rPr>
                <a:t>40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812460" y="383117"/>
              <a:ext cx="5290015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3000">
                  <a:solidFill>
                    <a:srgbClr val="044557"/>
                  </a:solidFill>
                  <a:latin typeface="Roboto Bold"/>
                </a:rPr>
                <a:t>SEQUENCE LENGTH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57994" y="6450694"/>
            <a:ext cx="6826856" cy="1064260"/>
            <a:chOff x="0" y="0"/>
            <a:chExt cx="9102475" cy="141901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47625"/>
              <a:ext cx="2927773" cy="1371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700"/>
                </a:lnSpc>
              </a:pPr>
              <a:r>
                <a:rPr lang="en-US" sz="7000" spc="-70">
                  <a:solidFill>
                    <a:srgbClr val="F47805"/>
                  </a:solidFill>
                  <a:latin typeface="Roboto Bold"/>
                </a:rPr>
                <a:t>3501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2460" y="383117"/>
              <a:ext cx="5290015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3000">
                  <a:solidFill>
                    <a:srgbClr val="044557"/>
                  </a:solidFill>
                  <a:latin typeface="Roboto Bold"/>
                </a:rPr>
                <a:t>UNIQUE WORDS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0">
            <a:off x="9957994" y="3584889"/>
            <a:ext cx="6826856" cy="0"/>
          </a:xfrm>
          <a:prstGeom prst="line">
            <a:avLst/>
          </a:prstGeom>
          <a:ln cap="rnd" w="19050">
            <a:solidFill>
              <a:srgbClr val="0445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0">
            <a:off x="9957994" y="5124450"/>
            <a:ext cx="6826856" cy="0"/>
          </a:xfrm>
          <a:prstGeom prst="line">
            <a:avLst/>
          </a:prstGeom>
          <a:ln cap="rnd" w="19050">
            <a:solidFill>
              <a:srgbClr val="0445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9957994" y="8052955"/>
            <a:ext cx="6826856" cy="1064260"/>
            <a:chOff x="0" y="0"/>
            <a:chExt cx="9102475" cy="1419013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47625"/>
              <a:ext cx="2927773" cy="1371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700"/>
                </a:lnSpc>
              </a:pPr>
              <a:r>
                <a:rPr lang="en-US" sz="7000" spc="-70">
                  <a:solidFill>
                    <a:srgbClr val="F47805"/>
                  </a:solidFill>
                  <a:latin typeface="Roboto Bold"/>
                </a:rPr>
                <a:t>5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812460" y="383117"/>
              <a:ext cx="5290015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3000">
                  <a:solidFill>
                    <a:srgbClr val="044557"/>
                  </a:solidFill>
                  <a:latin typeface="Roboto Bold"/>
                </a:rPr>
                <a:t>SEQUENCE LENGTH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0">
            <a:off x="9957994" y="7805305"/>
            <a:ext cx="6826856" cy="0"/>
          </a:xfrm>
          <a:prstGeom prst="line">
            <a:avLst/>
          </a:prstGeom>
          <a:ln cap="rnd" w="19050">
            <a:solidFill>
              <a:srgbClr val="0445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9957994" y="5798690"/>
            <a:ext cx="682685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>
                <a:solidFill>
                  <a:srgbClr val="044557"/>
                </a:solidFill>
                <a:latin typeface="Roboto Bold"/>
              </a:rPr>
              <a:t>WORD INPUT STATS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5711" y="5067300"/>
            <a:ext cx="8468289" cy="420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759"/>
              </a:lnSpc>
            </a:pPr>
            <a:r>
              <a:rPr lang="en-US" sz="3400">
                <a:solidFill>
                  <a:srgbClr val="044557"/>
                </a:solidFill>
                <a:latin typeface="Roboto"/>
              </a:rPr>
              <a:t>- </a:t>
            </a:r>
            <a:r>
              <a:rPr lang="en-US" sz="3400">
                <a:solidFill>
                  <a:srgbClr val="044557"/>
                </a:solidFill>
                <a:latin typeface="Roboto Bold"/>
              </a:rPr>
              <a:t>Character-Level</a:t>
            </a:r>
            <a:r>
              <a:rPr lang="en-US" sz="3400">
                <a:solidFill>
                  <a:srgbClr val="044557"/>
                </a:solidFill>
                <a:latin typeface="Roboto"/>
              </a:rPr>
              <a:t>: Low computational demand and efficient in short-length corpus text.</a:t>
            </a:r>
          </a:p>
          <a:p>
            <a:pPr>
              <a:lnSpc>
                <a:spcPts val="4759"/>
              </a:lnSpc>
            </a:pPr>
          </a:p>
          <a:p>
            <a:pPr>
              <a:lnSpc>
                <a:spcPts val="4759"/>
              </a:lnSpc>
            </a:pPr>
            <a:r>
              <a:rPr lang="en-US" sz="3399">
                <a:solidFill>
                  <a:srgbClr val="044557"/>
                </a:solidFill>
                <a:latin typeface="Roboto"/>
              </a:rPr>
              <a:t>- </a:t>
            </a:r>
            <a:r>
              <a:rPr lang="en-US" sz="3399">
                <a:solidFill>
                  <a:srgbClr val="044557"/>
                </a:solidFill>
                <a:latin typeface="Roboto Bold"/>
              </a:rPr>
              <a:t>Word-level</a:t>
            </a:r>
            <a:r>
              <a:rPr lang="en-US" sz="3399">
                <a:solidFill>
                  <a:srgbClr val="044557"/>
                </a:solidFill>
                <a:latin typeface="Roboto"/>
              </a:rPr>
              <a:t>: High computational demand and more efficient with complex models and extensive corpus texts.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645250" y="0"/>
            <a:ext cx="23853913" cy="102870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 rot="0">
            <a:off x="0" y="0"/>
            <a:ext cx="7912570" cy="10287000"/>
          </a:xfrm>
          <a:prstGeom prst="rect">
            <a:avLst/>
          </a:prstGeom>
          <a:solidFill>
            <a:srgbClr val="D16603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178379" y="1436467"/>
            <a:ext cx="5712169" cy="4363653"/>
            <a:chOff x="0" y="0"/>
            <a:chExt cx="7616226" cy="581820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7616226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9899"/>
                </a:lnSpc>
              </a:pPr>
              <a:r>
                <a:rPr lang="en-US" sz="8999" spc="-89">
                  <a:solidFill>
                    <a:srgbClr val="FFFFFF"/>
                  </a:solidFill>
                  <a:latin typeface="Roboto Bold"/>
                </a:rPr>
                <a:t>3 - LSTM Modeling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68660"/>
              <a:ext cx="7616226" cy="1849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  <a:spcBef>
                  <a:spcPct val="0"/>
                </a:spcBef>
              </a:pPr>
              <a:r>
                <a:rPr lang="en-US" sz="4000">
                  <a:solidFill>
                    <a:srgbClr val="FFFFFF"/>
                  </a:solidFill>
                  <a:latin typeface="Arimo Italics"/>
                </a:rPr>
                <a:t>"I'm going on an adventure."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44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6435" y="1603706"/>
            <a:ext cx="96000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899"/>
              </a:lnSpc>
            </a:pPr>
            <a:r>
              <a:rPr lang="en-US" sz="8999" spc="-89">
                <a:solidFill>
                  <a:srgbClr val="FFFFFF"/>
                </a:solidFill>
                <a:latin typeface="Roboto Bold"/>
              </a:rPr>
              <a:t>3 - LSTM Modeling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01778" y="4280779"/>
            <a:ext cx="3884973" cy="3514042"/>
            <a:chOff x="0" y="0"/>
            <a:chExt cx="5179964" cy="468539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945067"/>
              <a:ext cx="5179964" cy="1740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Roboto"/>
                </a:rPr>
                <a:t>Standard Layer with an Input array of shape (40,52).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833971"/>
              <a:ext cx="5179964" cy="738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Roboto Bold"/>
                </a:rPr>
                <a:t>Dense Input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7625"/>
              <a:ext cx="5179964" cy="1366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700"/>
                </a:lnSpc>
              </a:pPr>
              <a:r>
                <a:rPr lang="en-US" sz="7000" spc="-70">
                  <a:solidFill>
                    <a:srgbClr val="F47805"/>
                  </a:solidFill>
                  <a:latin typeface="Roboto Bold"/>
                </a:rPr>
                <a:t>01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686752" y="4280779"/>
            <a:ext cx="3884973" cy="3072082"/>
            <a:chOff x="0" y="0"/>
            <a:chExt cx="5179964" cy="409611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945067"/>
              <a:ext cx="5179964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Roboto"/>
                </a:rPr>
                <a:t>Long-Shot-Term Memory Layer.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833971"/>
              <a:ext cx="5179964" cy="738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Roboto Bold"/>
                </a:rPr>
                <a:t>LSTM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7625"/>
              <a:ext cx="5179964" cy="1366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700"/>
                </a:lnSpc>
              </a:pPr>
              <a:r>
                <a:rPr lang="en-US" sz="7000" spc="-70">
                  <a:solidFill>
                    <a:srgbClr val="F47805"/>
                  </a:solidFill>
                  <a:latin typeface="Roboto Bold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4280779"/>
            <a:ext cx="3884973" cy="3514042"/>
            <a:chOff x="0" y="0"/>
            <a:chExt cx="5179964" cy="468539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2945067"/>
              <a:ext cx="5179964" cy="1740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Roboto"/>
                </a:rPr>
                <a:t>Standar Layer with output shape of 52 values with a softmax activation.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833971"/>
              <a:ext cx="5179964" cy="738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Roboto Bold"/>
                </a:rPr>
                <a:t>Dense Output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7625"/>
              <a:ext cx="5179964" cy="1366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700"/>
                </a:lnSpc>
              </a:pPr>
              <a:r>
                <a:rPr lang="en-US" sz="7000" spc="-70">
                  <a:solidFill>
                    <a:srgbClr val="F47805"/>
                  </a:solidFill>
                  <a:latin typeface="Roboto Bold"/>
                </a:rPr>
                <a:t>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525608" y="4280779"/>
            <a:ext cx="3884973" cy="3075893"/>
            <a:chOff x="0" y="0"/>
            <a:chExt cx="5179964" cy="410119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2950147"/>
              <a:ext cx="5179964" cy="11510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FFFFF"/>
                  </a:solidFill>
                  <a:latin typeface="Roboto"/>
                </a:rPr>
                <a:t>Categorical crossentropy with a RMSProp Optimizer.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839051"/>
              <a:ext cx="5179964" cy="738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Roboto Bold"/>
                </a:rPr>
                <a:t>Compilation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7625"/>
              <a:ext cx="5179964" cy="1371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700"/>
                </a:lnSpc>
              </a:pPr>
              <a:r>
                <a:rPr lang="en-US" sz="7000" spc="-70">
                  <a:solidFill>
                    <a:srgbClr val="F47805"/>
                  </a:solidFill>
                  <a:latin typeface="Roboto Bold"/>
                </a:rPr>
                <a:t>04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86435" y="3090730"/>
            <a:ext cx="12536806" cy="69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Roboto"/>
              </a:rPr>
              <a:t>Predicting the next character/word in a given sequence.</a:t>
            </a:r>
          </a:p>
        </p:txBody>
      </p:sp>
      <p:sp>
        <p:nvSpPr>
          <p:cNvPr name="AutoShape 20" id="20"/>
          <p:cNvSpPr/>
          <p:nvPr/>
        </p:nvSpPr>
        <p:spPr>
          <a:xfrm rot="0">
            <a:off x="1028700" y="8662194"/>
            <a:ext cx="16230600" cy="0"/>
          </a:xfrm>
          <a:prstGeom prst="line">
            <a:avLst/>
          </a:prstGeom>
          <a:ln cap="rnd" w="171450">
            <a:solidFill>
              <a:srgbClr val="D16603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4554854" y="-349936"/>
            <a:ext cx="19532216" cy="10986871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 rot="0">
            <a:off x="0" y="0"/>
            <a:ext cx="7912570" cy="10287000"/>
          </a:xfrm>
          <a:prstGeom prst="rect">
            <a:avLst/>
          </a:prstGeom>
          <a:solidFill>
            <a:srgbClr val="D16603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178379" y="1436467"/>
            <a:ext cx="5712169" cy="5780973"/>
            <a:chOff x="0" y="0"/>
            <a:chExt cx="7616226" cy="770796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7616226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9899"/>
                </a:lnSpc>
              </a:pPr>
              <a:r>
                <a:rPr lang="en-US" sz="8999" spc="-89">
                  <a:solidFill>
                    <a:srgbClr val="FFFFFF"/>
                  </a:solidFill>
                  <a:latin typeface="Roboto Bold"/>
                </a:rPr>
                <a:t>4 - GAN Modeling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68660"/>
              <a:ext cx="7616226" cy="3739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  <a:spcBef>
                  <a:spcPct val="0"/>
                </a:spcBef>
              </a:pPr>
              <a:r>
                <a:rPr lang="en-US" sz="4000">
                  <a:solidFill>
                    <a:srgbClr val="FFFFFF"/>
                  </a:solidFill>
                  <a:latin typeface="Arimo Italics"/>
                </a:rPr>
                <a:t>"Certainty of death. Small chance of success. What are we waiting for?"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8065" y="1465187"/>
            <a:ext cx="12806692" cy="2152583"/>
            <a:chOff x="0" y="0"/>
            <a:chExt cx="17075589" cy="287011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7075589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9899"/>
                </a:lnSpc>
              </a:pPr>
              <a:r>
                <a:rPr lang="en-US" sz="8999" spc="-89">
                  <a:solidFill>
                    <a:srgbClr val="044557"/>
                  </a:solidFill>
                  <a:latin typeface="Roboto Bold"/>
                </a:rPr>
                <a:t>4 - GAN Modeling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84310"/>
              <a:ext cx="17075589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44557"/>
                  </a:solidFill>
                  <a:latin typeface="Roboto"/>
                </a:rPr>
                <a:t>Generative Adversarial Networks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608611" y="3812285"/>
            <a:ext cx="14410680" cy="58261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144000" y="0"/>
            <a:ext cx="9144000" cy="10287000"/>
          </a:xfrm>
          <a:prstGeom prst="rect">
            <a:avLst/>
          </a:prstGeom>
          <a:solidFill>
            <a:srgbClr val="044557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764005" y="1244261"/>
            <a:ext cx="5615990" cy="101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000" spc="-70">
                <a:solidFill>
                  <a:srgbClr val="044557"/>
                </a:solidFill>
                <a:latin typeface="Roboto Bold"/>
              </a:rPr>
              <a:t>Discriminator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08005" y="1244261"/>
            <a:ext cx="5615990" cy="101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000" spc="-70">
                <a:solidFill>
                  <a:srgbClr val="FFFFFF"/>
                </a:solidFill>
                <a:latin typeface="Roboto Bold"/>
              </a:rPr>
              <a:t>Generator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64005" y="2664325"/>
            <a:ext cx="5615990" cy="6043014"/>
            <a:chOff x="0" y="0"/>
            <a:chExt cx="7487986" cy="8057353"/>
          </a:xfrm>
        </p:grpSpPr>
        <p:sp>
          <p:nvSpPr>
            <p:cNvPr name="AutoShape 6" id="6"/>
            <p:cNvSpPr/>
            <p:nvPr/>
          </p:nvSpPr>
          <p:spPr>
            <a:xfrm rot="0">
              <a:off x="0" y="1976238"/>
              <a:ext cx="7487986" cy="0"/>
            </a:xfrm>
            <a:prstGeom prst="line">
              <a:avLst/>
            </a:prstGeom>
            <a:ln cap="rnd" w="25400">
              <a:solidFill>
                <a:srgbClr val="F4780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rot="0">
              <a:off x="0" y="6055714"/>
              <a:ext cx="7487986" cy="0"/>
            </a:xfrm>
            <a:prstGeom prst="line">
              <a:avLst/>
            </a:prstGeom>
            <a:ln cap="rnd" w="25400">
              <a:solidFill>
                <a:srgbClr val="F4780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-76200"/>
              <a:ext cx="7487986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4557"/>
                  </a:solidFill>
                  <a:latin typeface="Roboto Bold"/>
                </a:rPr>
                <a:t>Convolution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44557"/>
                  </a:solidFill>
                  <a:latin typeface="Roboto"/>
                </a:rPr>
                <a:t>1D convolution layer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580876"/>
              <a:ext cx="7487986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4557"/>
                  </a:solidFill>
                  <a:latin typeface="Roboto Bold"/>
                </a:rPr>
                <a:t>LeakyRelu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44557"/>
                  </a:solidFill>
                  <a:latin typeface="Roboto"/>
                </a:rPr>
                <a:t>Leaky version of a Rectified Linear Unit. Allows a small gradient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660353"/>
              <a:ext cx="7487986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44557"/>
                  </a:solidFill>
                  <a:latin typeface="Roboto Bold"/>
                </a:rPr>
                <a:t>Dropout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44557"/>
                  </a:solidFill>
                  <a:latin typeface="Roboto"/>
                </a:rPr>
                <a:t>Regularization layer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08005" y="2664325"/>
            <a:ext cx="5615990" cy="6043014"/>
            <a:chOff x="0" y="0"/>
            <a:chExt cx="7487986" cy="8057353"/>
          </a:xfrm>
        </p:grpSpPr>
        <p:sp>
          <p:nvSpPr>
            <p:cNvPr name="AutoShape 12" id="12"/>
            <p:cNvSpPr/>
            <p:nvPr/>
          </p:nvSpPr>
          <p:spPr>
            <a:xfrm rot="0">
              <a:off x="0" y="1976238"/>
              <a:ext cx="7487986" cy="0"/>
            </a:xfrm>
            <a:prstGeom prst="line">
              <a:avLst/>
            </a:prstGeom>
            <a:ln cap="rnd" w="25400">
              <a:solidFill>
                <a:srgbClr val="F4780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 rot="0">
              <a:off x="0" y="6055714"/>
              <a:ext cx="7487986" cy="0"/>
            </a:xfrm>
            <a:prstGeom prst="line">
              <a:avLst/>
            </a:prstGeom>
            <a:ln cap="rnd" w="25400">
              <a:solidFill>
                <a:srgbClr val="F47805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-76200"/>
              <a:ext cx="7487986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Roboto Bold"/>
                </a:rPr>
                <a:t>Dense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Roboto"/>
                </a:rPr>
                <a:t>Standard Layer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580876"/>
              <a:ext cx="7487986" cy="2819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Roboto Bold"/>
                </a:rPr>
                <a:t>LeakyRelu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Roboto"/>
                </a:rPr>
                <a:t>Leaky version of a Rectified Linear Unit. Allows a small gradient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660353"/>
              <a:ext cx="7487986" cy="139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Roboto Bold"/>
                </a:rPr>
                <a:t>BatchNormalization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Roboto Bold"/>
                </a:rPr>
                <a:t>N</a:t>
              </a:r>
              <a:r>
                <a:rPr lang="en-US" sz="3000">
                  <a:solidFill>
                    <a:srgbClr val="FFFFFF"/>
                  </a:solidFill>
                  <a:latin typeface="Roboto"/>
                </a:rPr>
                <a:t>ormalizes its inputs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5400000">
            <a:off x="6647221" y="5614394"/>
            <a:ext cx="4993559" cy="0"/>
          </a:xfrm>
          <a:prstGeom prst="line">
            <a:avLst/>
          </a:prstGeom>
          <a:ln cap="rnd" w="142875">
            <a:solidFill>
              <a:srgbClr val="F47805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912570" cy="10287000"/>
          </a:xfrm>
          <a:prstGeom prst="rect">
            <a:avLst/>
          </a:prstGeom>
          <a:solidFill>
            <a:srgbClr val="D16603"/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912570" y="-88430"/>
            <a:ext cx="10375430" cy="1037543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178379" y="1436467"/>
            <a:ext cx="5913877" cy="5072312"/>
            <a:chOff x="0" y="0"/>
            <a:chExt cx="7885170" cy="676308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7885170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9899"/>
                </a:lnSpc>
              </a:pPr>
              <a:r>
                <a:rPr lang="en-US" sz="8999" spc="-89">
                  <a:solidFill>
                    <a:srgbClr val="FFFFFF"/>
                  </a:solidFill>
                  <a:latin typeface="Roboto Bold"/>
                </a:rPr>
                <a:t>5 - Predictions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68660"/>
              <a:ext cx="7885170" cy="27944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  <a:spcBef>
                  <a:spcPct val="0"/>
                </a:spcBef>
              </a:pPr>
              <a:r>
                <a:rPr lang="en-US" sz="4000">
                  <a:solidFill>
                    <a:srgbClr val="FFFFFF"/>
                  </a:solidFill>
                  <a:latin typeface="Arimo Italics"/>
                </a:rPr>
                <a:t>"The first secret of the more miles with the man who was the man."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732007" y="3930088"/>
            <a:ext cx="871123" cy="1059995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9964384" y="3897259"/>
            <a:ext cx="1217546" cy="102716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1369773" y="6969452"/>
            <a:ext cx="1540700" cy="930023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0">
            <a:off x="9964384" y="6969452"/>
            <a:ext cx="1275592" cy="930023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3210196" y="3930088"/>
            <a:ext cx="4764216" cy="2469240"/>
            <a:chOff x="0" y="0"/>
            <a:chExt cx="6352288" cy="329232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092046"/>
              <a:ext cx="6352288" cy="2200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899"/>
                </a:lnSpc>
              </a:pPr>
              <a:r>
                <a:rPr lang="en-US" sz="3500">
                  <a:solidFill>
                    <a:srgbClr val="044557"/>
                  </a:solidFill>
                  <a:latin typeface="Roboto Italics"/>
                </a:rPr>
                <a:t>"The stars the truth. I don't know that."</a:t>
              </a:r>
            </a:p>
            <a:p>
              <a:pPr>
                <a:lnSpc>
                  <a:spcPts val="3500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6352288" cy="738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20"/>
                </a:lnSpc>
              </a:pPr>
              <a:r>
                <a:rPr lang="en-US" sz="3600">
                  <a:solidFill>
                    <a:srgbClr val="044557"/>
                  </a:solidFill>
                  <a:latin typeface="Roboto Bold"/>
                </a:rPr>
                <a:t>Character LSTM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210196" y="6969452"/>
            <a:ext cx="4764216" cy="2631800"/>
            <a:chOff x="0" y="0"/>
            <a:chExt cx="6352288" cy="35090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072996"/>
              <a:ext cx="6352288" cy="2436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900"/>
                </a:lnSpc>
              </a:pPr>
              <a:r>
                <a:rPr lang="en-US" sz="3500">
                  <a:solidFill>
                    <a:srgbClr val="044557"/>
                  </a:solidFill>
                  <a:latin typeface="Roboto Italics"/>
                </a:rPr>
                <a:t>"reehulefulnyuleeef ef   e eahefule hema."</a:t>
              </a:r>
            </a:p>
            <a:p>
              <a:pPr>
                <a:lnSpc>
                  <a:spcPts val="4900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6352288" cy="738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20"/>
                </a:lnSpc>
              </a:pPr>
              <a:r>
                <a:rPr lang="en-US" sz="3600">
                  <a:solidFill>
                    <a:srgbClr val="044557"/>
                  </a:solidFill>
                  <a:latin typeface="Roboto Bold"/>
                </a:rPr>
                <a:t>Character GAN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91471" y="6969452"/>
            <a:ext cx="4764216" cy="2631800"/>
            <a:chOff x="0" y="0"/>
            <a:chExt cx="6352288" cy="35090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072996"/>
              <a:ext cx="6352288" cy="24360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900"/>
                </a:lnSpc>
              </a:pPr>
              <a:r>
                <a:rPr lang="en-US" sz="3500">
                  <a:solidFill>
                    <a:srgbClr val="044557"/>
                  </a:solidFill>
                  <a:latin typeface="Roboto Italics"/>
                </a:rPr>
                <a:t>"Ohh appreciate says paying midnight."</a:t>
              </a:r>
            </a:p>
            <a:p>
              <a:pPr>
                <a:lnSpc>
                  <a:spcPts val="4900"/>
                </a:lnSpc>
                <a:spcBef>
                  <a:spcPct val="0"/>
                </a:spcBef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6352288" cy="738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20"/>
                </a:lnSpc>
              </a:pPr>
              <a:r>
                <a:rPr lang="en-US" sz="3600">
                  <a:solidFill>
                    <a:srgbClr val="044557"/>
                  </a:solidFill>
                  <a:latin typeface="Roboto Bold"/>
                </a:rPr>
                <a:t>Word GAN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91471" y="3864430"/>
            <a:ext cx="4764216" cy="3249021"/>
            <a:chOff x="0" y="0"/>
            <a:chExt cx="6352288" cy="433202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072996"/>
              <a:ext cx="6352288" cy="3259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900"/>
                </a:lnSpc>
              </a:pPr>
              <a:r>
                <a:rPr lang="en-US" sz="3499">
                  <a:solidFill>
                    <a:srgbClr val="044557"/>
                  </a:solidFill>
                  <a:latin typeface="Roboto Italics"/>
                </a:rPr>
                <a:t>"Teach spirit they for start young heard do nor up."</a:t>
              </a:r>
            </a:p>
            <a:p>
              <a:pPr>
                <a:lnSpc>
                  <a:spcPts val="4899"/>
                </a:lnSpc>
                <a:spcBef>
                  <a:spcPct val="0"/>
                </a:spcBef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6352288" cy="738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19"/>
                </a:lnSpc>
              </a:pPr>
              <a:r>
                <a:rPr lang="en-US" sz="3599">
                  <a:solidFill>
                    <a:srgbClr val="044557"/>
                  </a:solidFill>
                  <a:latin typeface="Roboto Bold"/>
                </a:rPr>
                <a:t>Word LSTM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194548" y="360287"/>
            <a:ext cx="12806692" cy="122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9350"/>
              </a:lnSpc>
            </a:pPr>
            <a:r>
              <a:rPr lang="en-US" sz="8500" spc="-85">
                <a:solidFill>
                  <a:srgbClr val="044557"/>
                </a:solidFill>
                <a:latin typeface="Roboto Bold"/>
              </a:rPr>
              <a:t>5 - Predictions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40470" y="2005330"/>
            <a:ext cx="15118830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019"/>
              </a:lnSpc>
            </a:pPr>
            <a:r>
              <a:rPr lang="en-US" sz="4300">
                <a:solidFill>
                  <a:srgbClr val="044557"/>
                </a:solidFill>
                <a:latin typeface="Open Sans"/>
              </a:rPr>
              <a:t>Input Text: "</a:t>
            </a:r>
            <a:r>
              <a:rPr lang="en-US" sz="4300">
                <a:solidFill>
                  <a:srgbClr val="044557"/>
                </a:solidFill>
                <a:latin typeface="Open Sans Italics"/>
              </a:rPr>
              <a:t>I love the smell of napalm in the morning.</a:t>
            </a:r>
            <a:r>
              <a:rPr lang="en-US" sz="4300">
                <a:solidFill>
                  <a:srgbClr val="044557"/>
                </a:solidFill>
                <a:latin typeface="Open Sans"/>
              </a:rPr>
              <a:t>"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744793" y="0"/>
            <a:ext cx="19642461" cy="10464787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 rot="0">
            <a:off x="0" y="0"/>
            <a:ext cx="7912570" cy="10287000"/>
          </a:xfrm>
          <a:prstGeom prst="rect">
            <a:avLst/>
          </a:prstGeom>
          <a:solidFill>
            <a:srgbClr val="D16603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1178379" y="1436467"/>
            <a:ext cx="6416586" cy="4363653"/>
            <a:chOff x="0" y="0"/>
            <a:chExt cx="8555448" cy="581820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8555448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9899"/>
                </a:lnSpc>
              </a:pPr>
              <a:r>
                <a:rPr lang="en-US" sz="8999" spc="-89">
                  <a:solidFill>
                    <a:srgbClr val="FFFFFF"/>
                  </a:solidFill>
                  <a:latin typeface="Roboto Bold"/>
                </a:rPr>
                <a:t>6 - Conclusions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3968660"/>
              <a:ext cx="8555448" cy="1849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5600"/>
                </a:lnSpc>
                <a:spcBef>
                  <a:spcPct val="0"/>
                </a:spcBef>
              </a:pPr>
              <a:r>
                <a:rPr lang="en-US" sz="4000">
                  <a:solidFill>
                    <a:srgbClr val="FFFFFF"/>
                  </a:solidFill>
                  <a:latin typeface="Arimo Italics"/>
                </a:rPr>
                <a:t>"After all, tomorrow is another day."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8065" y="1465187"/>
            <a:ext cx="12806692" cy="2152583"/>
            <a:chOff x="0" y="0"/>
            <a:chExt cx="17075589" cy="287011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7075589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9899"/>
                </a:lnSpc>
              </a:pPr>
              <a:r>
                <a:rPr lang="en-US" sz="8999" spc="-89">
                  <a:solidFill>
                    <a:srgbClr val="044557"/>
                  </a:solidFill>
                  <a:latin typeface="Roboto Bold"/>
                </a:rPr>
                <a:t>6 - Conclusions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84310"/>
              <a:ext cx="17075589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44557"/>
                  </a:solidFill>
                  <a:latin typeface="Roboto"/>
                </a:rPr>
                <a:t>Reflecting on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38065" y="5471145"/>
            <a:ext cx="4047442" cy="4041343"/>
            <a:chOff x="0" y="0"/>
            <a:chExt cx="5396590" cy="538845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880294"/>
              <a:ext cx="5396590" cy="3508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044557"/>
                  </a:solidFill>
                  <a:latin typeface="Roboto"/>
                </a:rPr>
                <a:t>Although the GAN structure was successfully implemented, Gen-Disc stabilization was reached too soon, resulting in poor-quality outputs.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5396590" cy="1467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20"/>
                </a:lnSpc>
              </a:pPr>
              <a:r>
                <a:rPr lang="en-US" sz="3600">
                  <a:solidFill>
                    <a:srgbClr val="044557"/>
                  </a:solidFill>
                  <a:latin typeface="Roboto Bold"/>
                </a:rPr>
                <a:t>Underwhelming GAN Outputs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20279" y="5471145"/>
            <a:ext cx="4047442" cy="3599383"/>
            <a:chOff x="0" y="0"/>
            <a:chExt cx="5396590" cy="479917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80294"/>
              <a:ext cx="5396590" cy="2918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044557"/>
                  </a:solidFill>
                  <a:latin typeface="Roboto"/>
                </a:rPr>
                <a:t>The simplest model gave the overall best results, bearing in mind no model managed to reach a reasonable output.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5396590" cy="1467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320"/>
                </a:lnSpc>
              </a:pPr>
              <a:r>
                <a:rPr lang="en-US" sz="3600">
                  <a:solidFill>
                    <a:srgbClr val="044557"/>
                  </a:solidFill>
                  <a:latin typeface="Roboto Bold"/>
                </a:rPr>
                <a:t>Character LSTM - The Best Model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26853" y="5441878"/>
            <a:ext cx="3933115" cy="3927188"/>
            <a:chOff x="0" y="0"/>
            <a:chExt cx="5244153" cy="523625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16042"/>
              <a:ext cx="5244153" cy="3420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3401"/>
                </a:lnSpc>
                <a:spcBef>
                  <a:spcPct val="0"/>
                </a:spcBef>
              </a:pPr>
              <a:r>
                <a:rPr lang="en-US" sz="2429">
                  <a:solidFill>
                    <a:srgbClr val="044557"/>
                  </a:solidFill>
                  <a:latin typeface="Roboto"/>
                </a:rPr>
                <a:t>Designing a better optimized code, using high-demand processors and further model investigation is required in order to achieve better results.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0"/>
              <a:ext cx="5244153" cy="1417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197"/>
                </a:lnSpc>
              </a:pPr>
              <a:r>
                <a:rPr lang="en-US" sz="3498">
                  <a:solidFill>
                    <a:srgbClr val="044557"/>
                  </a:solidFill>
                  <a:latin typeface="Roboto Bold"/>
                </a:rPr>
                <a:t>Future Considerations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4175745"/>
            <a:ext cx="202372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99"/>
              </a:lnSpc>
              <a:spcBef>
                <a:spcPct val="0"/>
              </a:spcBef>
            </a:pPr>
            <a:r>
              <a:rPr lang="en-US" sz="8999" spc="-89">
                <a:solidFill>
                  <a:srgbClr val="D16603"/>
                </a:solidFill>
                <a:latin typeface="Roboto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29550" y="4115268"/>
            <a:ext cx="202372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99"/>
              </a:lnSpc>
              <a:spcBef>
                <a:spcPct val="0"/>
              </a:spcBef>
            </a:pPr>
            <a:r>
              <a:rPr lang="en-US" sz="8999" spc="-89">
                <a:solidFill>
                  <a:srgbClr val="D16603"/>
                </a:solidFill>
                <a:latin typeface="Roboto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63872" y="4115268"/>
            <a:ext cx="208088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99"/>
              </a:lnSpc>
              <a:spcBef>
                <a:spcPct val="0"/>
              </a:spcBef>
            </a:pPr>
            <a:r>
              <a:rPr lang="en-US" sz="8999" spc="-89">
                <a:solidFill>
                  <a:srgbClr val="D16603"/>
                </a:solidFill>
                <a:latin typeface="Roboto Bold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4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5027083" y="0"/>
            <a:ext cx="7470815" cy="100706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4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7251806"/>
            <a:ext cx="1363663" cy="1363663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6385" t="0" r="6385" b="0"/>
          <a:stretch>
            <a:fillRect/>
          </a:stretch>
        </p:blipFill>
        <p:spPr>
          <a:xfrm flipH="false" flipV="false" rot="0">
            <a:off x="1104595" y="5981488"/>
            <a:ext cx="1287768" cy="1107228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2009775"/>
            <a:ext cx="15978690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FFFFFF"/>
                </a:solidFill>
                <a:latin typeface="Open Sans Extra Bold"/>
              </a:rPr>
              <a:t>Thank you for your attention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49008" y="5886238"/>
            <a:ext cx="14610292" cy="272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7279"/>
              </a:lnSpc>
            </a:pPr>
            <a:r>
              <a:rPr lang="en-US" sz="5200">
                <a:solidFill>
                  <a:srgbClr val="FFFFFF"/>
                </a:solidFill>
                <a:latin typeface="Open Sans Bold"/>
              </a:rPr>
              <a:t>email</a:t>
            </a:r>
            <a:r>
              <a:rPr lang="en-US" sz="5200">
                <a:solidFill>
                  <a:srgbClr val="FFFFFF"/>
                </a:solidFill>
                <a:latin typeface="Open Sans"/>
              </a:rPr>
              <a:t>: jgn.sando@gmail.com</a:t>
            </a:r>
          </a:p>
          <a:p>
            <a:pPr>
              <a:lnSpc>
                <a:spcPts val="7280"/>
              </a:lnSpc>
            </a:pPr>
            <a:r>
              <a:rPr lang="en-US" sz="5199">
                <a:solidFill>
                  <a:srgbClr val="FFFFFF"/>
                </a:solidFill>
                <a:latin typeface="Open Sans Bold"/>
              </a:rPr>
              <a:t>linkedIn</a:t>
            </a:r>
            <a:r>
              <a:rPr lang="en-US" sz="5199">
                <a:solidFill>
                  <a:srgbClr val="FFFFFF"/>
                </a:solidFill>
                <a:latin typeface="Open Sans"/>
              </a:rPr>
              <a:t>: www.linkedin.com/in/jorge-garcía-navarro-532674108/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DAEj4JgYYXY</dc:identifier>
  <dcterms:modified xsi:type="dcterms:W3CDTF">2011-08-01T06:04:30Z</dcterms:modified>
  <cp:revision>1</cp:revision>
  <dc:title>Text Generation Machine Learning Project (GAN-Dalf)</dc:title>
</cp:coreProperties>
</file>